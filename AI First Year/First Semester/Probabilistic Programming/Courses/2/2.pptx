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2" r:id="rId4"/>
  </p:sldMasterIdLst>
  <p:notesMasterIdLst>
    <p:notesMasterId r:id="rId46"/>
  </p:notesMasterIdLst>
  <p:handoutMasterIdLst>
    <p:handoutMasterId r:id="rId4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300" r:id="rId12"/>
    <p:sldId id="263" r:id="rId13"/>
    <p:sldId id="266" r:id="rId14"/>
    <p:sldId id="267" r:id="rId15"/>
    <p:sldId id="268" r:id="rId16"/>
    <p:sldId id="269" r:id="rId17"/>
    <p:sldId id="270" r:id="rId18"/>
    <p:sldId id="288" r:id="rId19"/>
    <p:sldId id="289" r:id="rId20"/>
    <p:sldId id="271" r:id="rId21"/>
    <p:sldId id="304" r:id="rId22"/>
    <p:sldId id="305" r:id="rId23"/>
    <p:sldId id="306" r:id="rId24"/>
    <p:sldId id="278" r:id="rId25"/>
    <p:sldId id="279" r:id="rId26"/>
    <p:sldId id="301" r:id="rId27"/>
    <p:sldId id="303" r:id="rId28"/>
    <p:sldId id="307" r:id="rId29"/>
    <p:sldId id="296" r:id="rId30"/>
    <p:sldId id="297" r:id="rId31"/>
    <p:sldId id="298" r:id="rId32"/>
    <p:sldId id="299" r:id="rId33"/>
    <p:sldId id="302" r:id="rId34"/>
    <p:sldId id="280" r:id="rId35"/>
    <p:sldId id="290" r:id="rId36"/>
    <p:sldId id="284" r:id="rId37"/>
    <p:sldId id="285" r:id="rId38"/>
    <p:sldId id="286" r:id="rId39"/>
    <p:sldId id="287" r:id="rId40"/>
    <p:sldId id="291" r:id="rId41"/>
    <p:sldId id="292" r:id="rId42"/>
    <p:sldId id="293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52C0A-7091-3CC6-6E4C-799FB338AF8A}" v="2" dt="2025-11-16T17:29:53.796"/>
  </p1510:revLst>
</p1510:revInfo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36F02-AF67-416B-AB85-08CFF698F86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BC62-3B36-43F8-8B69-D6E5E743D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7E8F0-931C-4E43-98D1-A3CD0E0034D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EB063-7F11-4E3B-BA52-07405B1C2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6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3022600"/>
            <a:ext cx="3547533" cy="283844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anchor="ctr" anchorCtr="1"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horz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ZA"/>
              <a:t>Add a footer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B7F6C47-B260-4BB6-8230-7D14D5CDE02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opescunmarius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BD2A-60FD-4D0C-8344-28D7E6E38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Probabilistic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F24E6-2AE8-4FD8-B92D-FE2CE716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98249"/>
          </a:xfrm>
        </p:spPr>
        <p:txBody>
          <a:bodyPr/>
          <a:lstStyle/>
          <a:p>
            <a:r>
              <a:rPr lang="en-US"/>
              <a:t>Marius Popescu</a:t>
            </a:r>
          </a:p>
          <a:p>
            <a:r>
              <a:rPr lang="en-US" sz="1800">
                <a:hlinkClick r:id="rId3"/>
              </a:rPr>
              <a:t>popescunmarius@gmail.com</a:t>
            </a:r>
            <a:endParaRPr lang="en-US" sz="1800"/>
          </a:p>
          <a:p>
            <a:r>
              <a:rPr lang="en-US"/>
              <a:t>2025 - 2026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8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1C4BC9-7379-41D0-A763-FB66B341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More Elaborate “Hello World!”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9DD07-02EB-46E0-9189-B73823B14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/>
              <a:t>Your most humble servant and most faithful friend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BB791-E5EF-4242-8654-81667203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50" y="4276725"/>
            <a:ext cx="17716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0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9CFF6-11B8-4A2B-860C-D36DB8D4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71760-4FD1-4120-A265-6940A252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6148"/>
            <a:ext cx="12192000" cy="418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6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38-E575-4E69-91C1-4F1E6684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start to model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Denoting day </a:t>
                </a:r>
                <a:r>
                  <a:rPr lang="en-US" i="1"/>
                  <a:t>i</a:t>
                </a:r>
                <a:r>
                  <a:rPr lang="en-US"/>
                  <a:t>'s text-message count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 random variable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can be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6" t="-503" b="-1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526594A2-CBBC-40C7-BA40-45BC4610AFE8}"/>
              </a:ext>
            </a:extLst>
          </p:cNvPr>
          <p:cNvSpPr/>
          <p:nvPr/>
        </p:nvSpPr>
        <p:spPr>
          <a:xfrm>
            <a:off x="2040835" y="293979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1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FA45-D2D1-4FEF-BABB-619B6FF7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Distributions (Memento)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75A8C-C170-4EFE-8B0E-E201E63E9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be some random variable. Then associated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is a probability distribution function that assigns probabilities to the different outcomes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can take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 b="1"/>
                  <a:t>Discrete Case</a:t>
                </a:r>
                <a:r>
                  <a:rPr lang="en-US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is discrete, then its distribution is called a </a:t>
                </a:r>
                <a:r>
                  <a:rPr lang="en-US" i="1"/>
                  <a:t>probability mass function</a:t>
                </a:r>
                <a:r>
                  <a:rPr lang="en-US"/>
                  <a:t>, which measures the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takes on the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 b="1"/>
                  <a:t>Continuous Case</a:t>
                </a:r>
                <a:r>
                  <a:rPr lang="en-US"/>
                  <a:t>: Instead of a probability mass function, a continuous random variable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has a </a:t>
                </a:r>
                <a:r>
                  <a:rPr lang="en-US" i="1"/>
                  <a:t>probability density function</a:t>
                </a:r>
                <a:r>
                  <a:rPr lang="en-US"/>
                  <a:t>,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75A8C-C170-4EFE-8B0E-E201E63E9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115" b="-6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78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5B8F-EDF3-4D2B-86BB-EF7704FE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Distribution (Memento)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EE3FA-8603-490F-8346-C9D2C242EA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94860" y="3096931"/>
                <a:ext cx="5483087" cy="363876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=0,1,2,…,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EE3FA-8603-490F-8346-C9D2C242E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94860" y="3096931"/>
                <a:ext cx="5483087" cy="36387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lose up of a piece of paper&#10;&#10;Description generated with high confidence">
            <a:extLst>
              <a:ext uri="{FF2B5EF4-FFF2-40B4-BE49-F238E27FC236}">
                <a16:creationId xmlns:a16="http://schemas.microsoft.com/office/drawing/2014/main" id="{D51B17D9-6BC6-4291-9B73-EC2EC62BC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1979336"/>
            <a:ext cx="74866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3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1D6A12-9022-4CB2-B047-0E7C068B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 Distribution (Memento)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8A36327-6265-485E-BC58-921C1DFB1D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034" y="3968335"/>
                <a:ext cx="5883965" cy="244247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8A36327-6265-485E-BC58-921C1DFB1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034" y="3968335"/>
                <a:ext cx="5883965" cy="24424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lose up of a map&#10;&#10;Description generated with high confidence">
            <a:extLst>
              <a:ext uri="{FF2B5EF4-FFF2-40B4-BE49-F238E27FC236}">
                <a16:creationId xmlns:a16="http://schemas.microsoft.com/office/drawing/2014/main" id="{48F7D8F9-1556-40F4-99C2-CF3E452DB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2052637"/>
            <a:ext cx="73628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3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9414D2-CA83-4F5D-8FE8-15EEC90E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7E5F7-69C2-4751-8F45-2DC1BE996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7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38-E575-4E69-91C1-4F1E6684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start to model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Denoting day </a:t>
                </a:r>
                <a:r>
                  <a:rPr lang="en-US" i="1"/>
                  <a:t>i</a:t>
                </a:r>
                <a:r>
                  <a:rPr lang="en-US"/>
                  <a:t>'s text-message count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 random variable</a:t>
                </a:r>
              </a:p>
              <a:p>
                <a:pPr marL="0" indent="0">
                  <a:buNone/>
                </a:pPr>
                <a:r>
                  <a:rPr lang="en-US"/>
                  <a:t>What can be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?</a:t>
                </a:r>
              </a:p>
              <a:p>
                <a:pPr marL="0" indent="0">
                  <a:buNone/>
                </a:pPr>
                <a:r>
                  <a:rPr lang="en-US"/>
                  <a:t>A Poisson random variable is a very appropriate model for this type of count data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526594A2-CBBC-40C7-BA40-45BC4610AFE8}"/>
              </a:ext>
            </a:extLst>
          </p:cNvPr>
          <p:cNvSpPr/>
          <p:nvPr/>
        </p:nvSpPr>
        <p:spPr>
          <a:xfrm>
            <a:off x="2120348" y="2757333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428-5E99-421E-9E3A-D54F98A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481" y="2175395"/>
                <a:ext cx="10554574" cy="363651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 algn="just">
                  <a:buNone/>
                </a:pPr>
                <a:r>
                  <a:rPr lang="en-US"/>
                  <a:t>We are not sure what the value of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parameter really is, however. Looking at the chart above, it appears that the rate might become higher late in the observation period, which is equivalent to saying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increases at some point during the observations. (Recall that a higher value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assigns more probability to larger outcomes. That is, there is a higher probability of many text messages having been sent on a given day)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481" y="2175395"/>
                <a:ext cx="10554574" cy="3636511"/>
              </a:xfrm>
              <a:blipFill>
                <a:blip r:embed="rId2"/>
                <a:stretch>
                  <a:fillRect l="-462" r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76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428-5E99-421E-9E3A-D54F98A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/>
                  <a:t>How can we represent this observation mathematically? Let's assume that on some day during the observation period (call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),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suddenly jumps to a higher value. So we really have two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parameters: one for the period before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, and one for the rest of the observation period. In the literature, a sudden transition like this would be called a switch point:</a:t>
                </a:r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:r>
                  <a:rPr lang="en-US"/>
                  <a:t>If, in reality, no sudden change occurred and indeed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, then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s posterior distributions should look about equal.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8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E5F7-4AE4-4E4A-BC7D-E573F363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9E145-8A9C-4F80-8728-F4477BF01A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/>
                  <a:t>We are interested in inferring the unknown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s. To use Bayesian inference, we need to assign prior probabilities to the different possible values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. What would be good prior probability distributions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? Recall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can be any positive number. As we saw earlier, the exponential distribution provides a continuous density function for positive numbers, so it might be a good choice for modeling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. But recall that the exponential distribution takes a parameter of its own, so we'll need to include that parameter in our model. Let's call that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9E145-8A9C-4F80-8728-F4477BF01A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252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1699-6F39-4EBD-A786-82BB0A4E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D6F6A-1608-4D00-96DD-073E4B18A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is called a hyper-parameter or parent variable. In literal terms, it is a parameter that influences other parameters. Our initial guess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does not influence the model too strongly, so we have some flexibility in our choice. A good rule of thumb is to set the exponential parameter equal to the inverse of the average of the count data</a:t>
                </a:r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D6F6A-1608-4D00-96DD-073E4B18A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05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50E9-1670-498B-AA6C-F15559BB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B62C8-772D-4248-9FA0-A21EA7CDE5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/>
                  <a:t>What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? Because of the noisiness of the data, it's difficult to pick out a priori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might have occurred. Instead, we can assign a </a:t>
                </a:r>
                <a:r>
                  <a:rPr lang="en-US" i="1"/>
                  <a:t>uniform prior belief </a:t>
                </a:r>
                <a:r>
                  <a:rPr lang="en-US"/>
                  <a:t>to every possible day. This is equivalent to saying:</a:t>
                </a:r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74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B62C8-772D-4248-9FA0-A21EA7CDE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192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041-54A8-40A3-AC6D-A4CD70E7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447188"/>
            <a:ext cx="10571998" cy="970450"/>
          </a:xfrm>
        </p:spPr>
        <p:txBody>
          <a:bodyPr/>
          <a:lstStyle/>
          <a:p>
            <a:r>
              <a:rPr lang="en-US"/>
              <a:t>Bayesian modeling is to think about how your data might have been generated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4F6A8-BEFD-4556-BDC0-523513E6A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/>
                  <a:t>We started by thinking "what is the best random variable to describe this count data?" A Poisson random variable is a good candidate because it can represent count data. So we model the number of </a:t>
                </a:r>
                <a:r>
                  <a:rPr lang="en-US" err="1"/>
                  <a:t>sms's</a:t>
                </a:r>
                <a:r>
                  <a:rPr lang="en-US"/>
                  <a:t> received as sampled from a Poisson distribution.</a:t>
                </a:r>
              </a:p>
              <a:p>
                <a:pPr algn="just"/>
                <a:r>
                  <a:rPr lang="en-US"/>
                  <a:t>Next, we think, "Ok, assuming </a:t>
                </a:r>
                <a:r>
                  <a:rPr lang="en-US" err="1"/>
                  <a:t>sms's</a:t>
                </a:r>
                <a:r>
                  <a:rPr lang="en-US"/>
                  <a:t> are Poisson-distributed, what do I need for the Poisson distribution?" Well, the Poisson distribution has a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.</a:t>
                </a:r>
              </a:p>
              <a:p>
                <a:pPr algn="just"/>
                <a:r>
                  <a:rPr lang="en-US"/>
                  <a:t>Do we know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? No. In fact, we have a suspicion that there are two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values, one for the earlier </a:t>
                </a:r>
                <a:r>
                  <a:rPr lang="en-US" err="1"/>
                  <a:t>behaviour</a:t>
                </a:r>
                <a:r>
                  <a:rPr lang="en-US"/>
                  <a:t> and one for the later </a:t>
                </a:r>
                <a:r>
                  <a:rPr lang="en-US" err="1"/>
                  <a:t>behaviour</a:t>
                </a:r>
                <a:r>
                  <a:rPr lang="en-US"/>
                  <a:t>. We don't know when the </a:t>
                </a:r>
                <a:r>
                  <a:rPr lang="en-US" err="1"/>
                  <a:t>behaviour</a:t>
                </a:r>
                <a:r>
                  <a:rPr lang="en-US"/>
                  <a:t> switches though, but call the </a:t>
                </a:r>
                <a:r>
                  <a:rPr lang="en-US" err="1"/>
                  <a:t>switchpoint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.</a:t>
                </a:r>
              </a:p>
              <a:p>
                <a:pPr algn="just"/>
                <a:r>
                  <a:rPr lang="en-US"/>
                  <a:t>What is a good distribution for the two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s? The exponential is good, as it assigns probabilities to positive real numbers. Well the exponential distribution has a parameter too, 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4F6A8-BEFD-4556-BDC0-523513E6A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1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07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6ABD-E3FE-4F30-8876-3B5A81A6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modeling is to think about how your data might have been generated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37322-5017-4343-8297-C6821B56C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/>
                  <a:t>Do we know what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might be? No. At this point, we could continue and assign a distribution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, but it's better to stop once we reach a set level of ignorance: whereas we have a prior belief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, ("it probably changes over time", "it's likely between 10 and 30", etc.), we don't really have any strong beliefs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 So it's best to stop here.</a:t>
                </a:r>
              </a:p>
              <a:p>
                <a:pPr marL="400050" lvl="1" indent="0" algn="just">
                  <a:buNone/>
                </a:pPr>
                <a:r>
                  <a:rPr lang="en-US" sz="1900"/>
                  <a:t>What is a good value for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 then? We think that the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/>
                  <a:t>s are between 10-30, so if we set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 really low (which corresponds to larger probability on high values) we are not reflecting our prior well. Similar, a too-high alpha misses our prior belief as well. A good idea for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 as to reflect our belief is to set the value so that the mean of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900"/>
                  <a:t>, given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, is equal to our observed mean.</a:t>
                </a:r>
              </a:p>
              <a:p>
                <a:pPr algn="just"/>
                <a:endParaRPr lang="en-US"/>
              </a:p>
              <a:p>
                <a:pPr algn="just"/>
                <a:r>
                  <a:rPr lang="en-US"/>
                  <a:t>We have no expert opinion of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might have occurred. So we will 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is from a discrete uniform distribution over the entire timespan.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37322-5017-4343-8297-C6821B56C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3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9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4328-B260-493F-B18A-8C6CE016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71915-98C0-47B1-96E0-210D358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93" y="2162240"/>
            <a:ext cx="10163818" cy="38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1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3DDA-B559-42DA-BC37-77BFE14D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9CCE7-10C9-4390-B151-B9797BF09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635713"/>
          </a:xfrm>
        </p:spPr>
        <p:txBody>
          <a:bodyPr/>
          <a:lstStyle/>
          <a:p>
            <a:pPr marL="0" indent="0" algn="just">
              <a:buNone/>
            </a:pPr>
            <a:r>
              <a:rPr lang="en-US"/>
              <a:t>Generative models are statistical models that describe a joint distribution over three types of random variables:</a:t>
            </a:r>
          </a:p>
          <a:p>
            <a:pPr algn="just"/>
            <a:r>
              <a:rPr lang="en-US"/>
              <a:t>The “observed” random variables (often the “input space”), which are the random variables we have data for.</a:t>
            </a:r>
          </a:p>
          <a:p>
            <a:pPr algn="just"/>
            <a:r>
              <a:rPr lang="en-US"/>
              <a:t>The “latent” random variables, which are the random variables that play a role in the statistical model, but which are never observed (in the Bayesian setting, these are usually, at the very least, the parameters of the model).</a:t>
            </a:r>
          </a:p>
          <a:p>
            <a:pPr algn="just"/>
            <a:r>
              <a:rPr lang="en-US"/>
              <a:t>The “predicted” random variables, which are the random variables that represent the target predictions.</a:t>
            </a:r>
          </a:p>
          <a:p>
            <a:pPr algn="just"/>
            <a:endParaRPr lang="en-US"/>
          </a:p>
          <a:p>
            <a:pPr marL="0" indent="0" algn="just">
              <a:buNone/>
            </a:pPr>
            <a:r>
              <a:rPr lang="en-US"/>
              <a:t>This categorization for the random variables in the joint distribution is not mutually exclusive</a:t>
            </a:r>
          </a:p>
          <a:p>
            <a:pPr marL="0" indent="0" algn="just">
              <a:buNone/>
            </a:pPr>
            <a:r>
              <a:rPr lang="en-US"/>
              <a:t>(though observed random variables are never latent). For example, the predicted random</a:t>
            </a:r>
          </a:p>
          <a:p>
            <a:pPr marL="0" indent="0" algn="just">
              <a:buNone/>
            </a:pPr>
            <a:r>
              <a:rPr lang="en-US"/>
              <a:t>variables can be also latent, such as in the unsupervised setting</a:t>
            </a:r>
          </a:p>
        </p:txBody>
      </p:sp>
    </p:spTree>
    <p:extLst>
      <p:ext uri="{BB962C8B-B14F-4D97-AF65-F5344CB8AC3E}">
        <p14:creationId xmlns:p14="http://schemas.microsoft.com/office/powerpoint/2010/main" val="390915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34D3-E8F1-42D0-AC2E-82A1BD37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800F-51B2-48AA-8BE7-6C0D7991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2527944"/>
          </a:xfrm>
        </p:spPr>
        <p:txBody>
          <a:bodyPr/>
          <a:lstStyle/>
          <a:p>
            <a:pPr algn="just"/>
            <a:r>
              <a:rPr lang="en-US"/>
              <a:t>A generative stories identify a joint distribution over the variables in the model, where this joint distribution is a product of several factors.</a:t>
            </a:r>
          </a:p>
          <a:p>
            <a:pPr algn="just"/>
            <a:r>
              <a:rPr lang="en-US"/>
              <a:t>The generative story picks an ordering for the random variables, and the </a:t>
            </a:r>
            <a:r>
              <a:rPr lang="en-US" i="1"/>
              <a:t>chain rule</a:t>
            </a:r>
            <a:r>
              <a:rPr lang="en-US"/>
              <a:t> is applied using that order to yield the joint distribution.</a:t>
            </a:r>
          </a:p>
          <a:p>
            <a:pPr algn="just"/>
            <a:r>
              <a:rPr lang="en-US"/>
              <a:t>Each factor can theoretically condition on all possible random variables that were generated before, but the independence assumptions in the model make some of these variables unnecessary to condition 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D2F763AD-8B7D-445F-8357-889EC2630937}"/>
                  </a:ext>
                </a:extLst>
              </p:cNvPr>
              <p:cNvSpPr/>
              <p:nvPr/>
            </p:nvSpPr>
            <p:spPr>
              <a:xfrm>
                <a:off x="1898542" y="5147421"/>
                <a:ext cx="9988658" cy="923410"/>
              </a:xfrm>
              <a:prstGeom prst="cloudCallout">
                <a:avLst>
                  <a:gd name="adj1" fmla="val 36338"/>
                  <a:gd name="adj2" fmla="val -22366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D2F763AD-8B7D-445F-8357-889EC263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42" y="5147421"/>
                <a:ext cx="9988658" cy="923410"/>
              </a:xfrm>
              <a:prstGeom prst="cloudCallout">
                <a:avLst>
                  <a:gd name="adj1" fmla="val 36338"/>
                  <a:gd name="adj2" fmla="val -223663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58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4328-B260-493F-B18A-8C6CE016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71915-98C0-47B1-96E0-210D358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00" y="2153004"/>
            <a:ext cx="10163818" cy="3843353"/>
          </a:xfrm>
          <a:prstGeom prst="rect">
            <a:avLst/>
          </a:prstGeom>
        </p:spPr>
      </p:pic>
      <p:sp>
        <p:nvSpPr>
          <p:cNvPr id="3" name="Callout: Double Bent Line 2">
            <a:extLst>
              <a:ext uri="{FF2B5EF4-FFF2-40B4-BE49-F238E27FC236}">
                <a16:creationId xmlns:a16="http://schemas.microsoft.com/office/drawing/2014/main" id="{1EC48467-2526-49F3-BD94-9A66C850899B}"/>
              </a:ext>
            </a:extLst>
          </p:cNvPr>
          <p:cNvSpPr/>
          <p:nvPr/>
        </p:nvSpPr>
        <p:spPr>
          <a:xfrm>
            <a:off x="6315559" y="5517397"/>
            <a:ext cx="1518835" cy="612648"/>
          </a:xfrm>
          <a:prstGeom prst="borderCallout3">
            <a:avLst>
              <a:gd name="adj1" fmla="val 47394"/>
              <a:gd name="adj2" fmla="val -1036"/>
              <a:gd name="adj3" fmla="val 18750"/>
              <a:gd name="adj4" fmla="val -16667"/>
              <a:gd name="adj5" fmla="val 100000"/>
              <a:gd name="adj6" fmla="val -16667"/>
              <a:gd name="adj7" fmla="val 53514"/>
              <a:gd name="adj8" fmla="val -347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“observed”  variables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3493F8-7CC0-477C-8BEB-EBDBC7440494}"/>
              </a:ext>
            </a:extLst>
          </p:cNvPr>
          <p:cNvSpPr/>
          <p:nvPr/>
        </p:nvSpPr>
        <p:spPr>
          <a:xfrm rot="654432">
            <a:off x="3598667" y="2789065"/>
            <a:ext cx="4947287" cy="22590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1D16D291-1790-4109-A2B1-0B3E752EB673}"/>
              </a:ext>
            </a:extLst>
          </p:cNvPr>
          <p:cNvSpPr/>
          <p:nvPr/>
        </p:nvSpPr>
        <p:spPr>
          <a:xfrm>
            <a:off x="2336801" y="5495743"/>
            <a:ext cx="2129148" cy="612648"/>
          </a:xfrm>
          <a:prstGeom prst="borderCallout2">
            <a:avLst>
              <a:gd name="adj1" fmla="val 47395"/>
              <a:gd name="adj2" fmla="val -524"/>
              <a:gd name="adj3" fmla="val 18750"/>
              <a:gd name="adj4" fmla="val -16667"/>
              <a:gd name="adj5" fmla="val -216159"/>
              <a:gd name="adj6" fmla="val 687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“latent” variables</a:t>
            </a:r>
          </a:p>
        </p:txBody>
      </p:sp>
      <p:sp>
        <p:nvSpPr>
          <p:cNvPr id="10" name="Callout: Double Bent Line 9">
            <a:extLst>
              <a:ext uri="{FF2B5EF4-FFF2-40B4-BE49-F238E27FC236}">
                <a16:creationId xmlns:a16="http://schemas.microsoft.com/office/drawing/2014/main" id="{93392978-3341-450B-B719-F3514B744ECD}"/>
              </a:ext>
            </a:extLst>
          </p:cNvPr>
          <p:cNvSpPr/>
          <p:nvPr/>
        </p:nvSpPr>
        <p:spPr>
          <a:xfrm>
            <a:off x="2974109" y="2057192"/>
            <a:ext cx="2540000" cy="612648"/>
          </a:xfrm>
          <a:prstGeom prst="borderCallout3">
            <a:avLst>
              <a:gd name="adj1" fmla="val 47395"/>
              <a:gd name="adj2" fmla="val -1060"/>
              <a:gd name="adj3" fmla="val 18750"/>
              <a:gd name="adj4" fmla="val -16667"/>
              <a:gd name="adj5" fmla="val 100000"/>
              <a:gd name="adj6" fmla="val -16667"/>
              <a:gd name="adj7" fmla="val 167237"/>
              <a:gd name="adj8" fmla="val 454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“predicted” variable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9D48F433-18F7-4A9B-BD97-85AEF0F56941}"/>
              </a:ext>
            </a:extLst>
          </p:cNvPr>
          <p:cNvSpPr/>
          <p:nvPr/>
        </p:nvSpPr>
        <p:spPr>
          <a:xfrm>
            <a:off x="7377193" y="2057192"/>
            <a:ext cx="4311113" cy="970450"/>
          </a:xfrm>
          <a:prstGeom prst="borderCallout1">
            <a:avLst>
              <a:gd name="adj1" fmla="val 47395"/>
              <a:gd name="adj2" fmla="val -406"/>
              <a:gd name="adj3" fmla="val 67272"/>
              <a:gd name="adj4" fmla="val -72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“hyperparameter” (not random)</a:t>
            </a:r>
          </a:p>
          <a:p>
            <a:pPr algn="ctr"/>
            <a:r>
              <a:rPr lang="en-US"/>
              <a:t>usually estimated by maximum likelihood (</a:t>
            </a:r>
            <a:r>
              <a:rPr lang="en-US" i="1"/>
              <a:t>empirical Bayes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92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import </a:t>
            </a:r>
            <a:r>
              <a:rPr lang="en-US" sz="1400" err="1">
                <a:latin typeface="Consolas" panose="020B0609020204030204" pitchFamily="49" charset="0"/>
              </a:rPr>
              <a:t>numpy</a:t>
            </a:r>
            <a:r>
              <a:rPr lang="en-US" sz="1400">
                <a:latin typeface="Consolas" panose="020B0609020204030204" pitchFamily="49" charset="0"/>
              </a:rPr>
              <a:t> as np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import </a:t>
            </a:r>
            <a:r>
              <a:rPr lang="en-US" sz="1400" err="1">
                <a:latin typeface="Consolas" panose="020B0609020204030204" pitchFamily="49" charset="0"/>
              </a:rPr>
              <a:t>pymc</a:t>
            </a:r>
            <a:r>
              <a:rPr lang="en-US" sz="1400">
                <a:latin typeface="Consolas" panose="020B0609020204030204" pitchFamily="49" charset="0"/>
              </a:rPr>
              <a:t> as pm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np.loadtxt</a:t>
            </a:r>
            <a:r>
              <a:rPr lang="en-US" sz="1400">
                <a:latin typeface="Consolas" panose="020B0609020204030204" pitchFamily="49" charset="0"/>
              </a:rPr>
              <a:t>("txtdata.csv")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1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195" y="1917577"/>
            <a:ext cx="10554574" cy="49404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</a:t>
            </a:r>
            <a:r>
              <a:rPr lang="en-US" sz="1400" err="1">
                <a:latin typeface="Consolas" panose="020B0609020204030204" pitchFamily="49" charset="0"/>
              </a:rPr>
              <a:t>pm.Model</a:t>
            </a:r>
            <a:r>
              <a:rPr lang="en-US" sz="140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alpha = 1.0/</a:t>
            </a:r>
            <a:r>
              <a:rPr lang="en-US" sz="1400" err="1">
                <a:latin typeface="Consolas" panose="020B0609020204030204" pitchFamily="49" charset="0"/>
              </a:rPr>
              <a:t>count_data.mean</a:t>
            </a:r>
            <a:r>
              <a:rPr lang="en-US" sz="1400">
                <a:latin typeface="Consolas" panose="020B0609020204030204" pitchFamily="49" charset="0"/>
              </a:rPr>
              <a:t>()  # Recall </a:t>
            </a: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 is the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                               # variable that holds our txt counts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lambda_1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lambda_2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tau = </a:t>
            </a:r>
            <a:r>
              <a:rPr lang="en-US" sz="1400" err="1">
                <a:latin typeface="Consolas" panose="020B0609020204030204" pitchFamily="49" charset="0"/>
              </a:rPr>
              <a:t>pm.DiscreteUniform</a:t>
            </a:r>
            <a:r>
              <a:rPr lang="en-US" sz="1400">
                <a:latin typeface="Consolas" panose="020B0609020204030204" pitchFamily="49" charset="0"/>
              </a:rPr>
              <a:t>("tau", lower=0, upper=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np.arange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 = </a:t>
            </a:r>
            <a:r>
              <a:rPr lang="en-US" sz="1400" err="1">
                <a:latin typeface="Consolas" panose="020B0609020204030204" pitchFamily="49" charset="0"/>
              </a:rPr>
              <a:t>pm.math.switch</a:t>
            </a:r>
            <a:r>
              <a:rPr lang="en-US" sz="1400">
                <a:latin typeface="Consolas" panose="020B0609020204030204" pitchFamily="49" charset="0"/>
              </a:rPr>
              <a:t>(tau &gt;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observation = </a:t>
            </a:r>
            <a:r>
              <a:rPr lang="en-US" sz="1400" err="1">
                <a:latin typeface="Consolas" panose="020B0609020204030204" pitchFamily="49" charset="0"/>
              </a:rPr>
              <a:t>pm.Poisson</a:t>
            </a:r>
            <a:r>
              <a:rPr lang="en-US" sz="1400">
                <a:latin typeface="Consolas" panose="020B0609020204030204" pitchFamily="49" charset="0"/>
              </a:rPr>
              <a:t>("</a:t>
            </a:r>
            <a:r>
              <a:rPr lang="en-US" sz="1400" err="1">
                <a:latin typeface="Consolas" panose="020B0609020204030204" pitchFamily="49" charset="0"/>
              </a:rPr>
              <a:t>obs</a:t>
            </a:r>
            <a:r>
              <a:rPr lang="en-US" sz="1400">
                <a:latin typeface="Consolas" panose="020B0609020204030204" pitchFamily="49" charset="0"/>
              </a:rPr>
              <a:t>", lambda_, observed=</a:t>
            </a: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### Mysterious code to be explained in Chapter 3.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step = </a:t>
            </a:r>
            <a:r>
              <a:rPr lang="en-US" sz="1400" err="1">
                <a:latin typeface="Consolas" panose="020B0609020204030204" pitchFamily="49" charset="0"/>
              </a:rPr>
              <a:t>pm.Metropolis</a:t>
            </a:r>
            <a:r>
              <a:rPr lang="en-US" sz="140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trace = </a:t>
            </a:r>
            <a:r>
              <a:rPr lang="en-US" sz="1400" err="1">
                <a:latin typeface="Consolas" panose="020B0609020204030204" pitchFamily="49" charset="0"/>
              </a:rPr>
              <a:t>pm.sample</a:t>
            </a:r>
            <a:r>
              <a:rPr lang="en-US" sz="1400">
                <a:latin typeface="Consolas" panose="020B0609020204030204" pitchFamily="49" charset="0"/>
              </a:rPr>
              <a:t>(10000, tune=5000, chains=1, step=step, </a:t>
            </a:r>
            <a:r>
              <a:rPr lang="en-US" sz="1400" err="1">
                <a:latin typeface="Consolas" panose="020B0609020204030204" pitchFamily="49" charset="0"/>
              </a:rPr>
              <a:t>return_inferencedata</a:t>
            </a:r>
            <a:r>
              <a:rPr lang="en-US" sz="140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lambda_1_samples = trace['lambda_1']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lambda_2_samples = trace['lambda_2']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 = trace['tau']</a:t>
            </a:r>
          </a:p>
        </p:txBody>
      </p:sp>
    </p:spTree>
    <p:extLst>
      <p:ext uri="{BB962C8B-B14F-4D97-AF65-F5344CB8AC3E}">
        <p14:creationId xmlns:p14="http://schemas.microsoft.com/office/powerpoint/2010/main" val="3639806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5FDCB-0DF4-4B77-928A-390843D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EA30C-5BD9-4CEB-974A-78F4E014A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3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671F6-9E1C-462B-8E1E-6393358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Simulation (the wrong way)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B74B1-3145-4B60-B252-81C1C983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1873188"/>
            <a:ext cx="10554574" cy="49848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= 80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</a:t>
            </a:r>
            <a:r>
              <a:rPr lang="en-US" sz="1400" err="1">
                <a:latin typeface="Consolas" panose="020B0609020204030204" pitchFamily="49" charset="0"/>
              </a:rPr>
              <a:t>pm.Model</a:t>
            </a:r>
            <a:r>
              <a:rPr lang="en-US" sz="140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alpha = 1.0/20 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lambda_1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lambda_2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tau = </a:t>
            </a:r>
            <a:r>
              <a:rPr lang="en-US" sz="1400" err="1">
                <a:latin typeface="Consolas" panose="020B0609020204030204" pitchFamily="49" charset="0"/>
              </a:rPr>
              <a:t>pm.DiscreteUniform</a:t>
            </a:r>
            <a:r>
              <a:rPr lang="en-US" sz="1400">
                <a:latin typeface="Consolas" panose="020B0609020204030204" pitchFamily="49" charset="0"/>
              </a:rPr>
              <a:t>("tau", lower=0, upper=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np.arange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 = </a:t>
            </a:r>
            <a:r>
              <a:rPr lang="en-US" sz="1400" err="1">
                <a:latin typeface="Consolas" panose="020B0609020204030204" pitchFamily="49" charset="0"/>
              </a:rPr>
              <a:t>pm.math.switch</a:t>
            </a:r>
            <a:r>
              <a:rPr lang="en-US" sz="1400">
                <a:latin typeface="Consolas" panose="020B0609020204030204" pitchFamily="49" charset="0"/>
              </a:rPr>
              <a:t>(tau &gt;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observation = </a:t>
            </a:r>
            <a:r>
              <a:rPr lang="en-US" sz="1400" err="1">
                <a:latin typeface="Consolas" panose="020B0609020204030204" pitchFamily="49" charset="0"/>
              </a:rPr>
              <a:t>pm.Poisson</a:t>
            </a:r>
            <a:r>
              <a:rPr lang="en-US" sz="1400">
                <a:latin typeface="Consolas" panose="020B0609020204030204" pitchFamily="49" charset="0"/>
              </a:rPr>
              <a:t>("</a:t>
            </a:r>
            <a:r>
              <a:rPr lang="en-US" sz="1400" err="1">
                <a:latin typeface="Consolas" panose="020B0609020204030204" pitchFamily="49" charset="0"/>
              </a:rPr>
              <a:t>obs</a:t>
            </a:r>
            <a:r>
              <a:rPr lang="en-US" sz="1400">
                <a:latin typeface="Consolas" panose="020B0609020204030204" pitchFamily="49" charset="0"/>
              </a:rPr>
              <a:t>", lambda_)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step = </a:t>
            </a:r>
            <a:r>
              <a:rPr lang="en-US" sz="1400" err="1">
                <a:latin typeface="Consolas" panose="020B0609020204030204" pitchFamily="49" charset="0"/>
              </a:rPr>
              <a:t>pm.Metropolis</a:t>
            </a:r>
            <a:r>
              <a:rPr lang="en-US" sz="140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trace = </a:t>
            </a:r>
            <a:r>
              <a:rPr lang="en-US" sz="1400" err="1">
                <a:latin typeface="Consolas" panose="020B0609020204030204" pitchFamily="49" charset="0"/>
              </a:rPr>
              <a:t>pm.sample</a:t>
            </a:r>
            <a:r>
              <a:rPr lang="en-US" sz="1400">
                <a:latin typeface="Consolas" panose="020B0609020204030204" pitchFamily="49" charset="0"/>
              </a:rPr>
              <a:t>(10, tune=0, chains=1, step=step, </a:t>
            </a:r>
            <a:r>
              <a:rPr lang="en-US" sz="1400" err="1">
                <a:latin typeface="Consolas" panose="020B0609020204030204" pitchFamily="49" charset="0"/>
              </a:rPr>
              <a:t>return_inferencedata</a:t>
            </a:r>
            <a:r>
              <a:rPr lang="en-US" sz="140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 = trace['tau']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obs_samples</a:t>
            </a:r>
            <a:r>
              <a:rPr lang="en-US" sz="1400">
                <a:latin typeface="Consolas" panose="020B0609020204030204" pitchFamily="49" charset="0"/>
              </a:rPr>
              <a:t> = trace['</a:t>
            </a:r>
            <a:r>
              <a:rPr lang="en-US" sz="1400" err="1">
                <a:latin typeface="Consolas" panose="020B0609020204030204" pitchFamily="49" charset="0"/>
              </a:rPr>
              <a:t>obs</a:t>
            </a:r>
            <a:r>
              <a:rPr lang="en-US" sz="1400">
                <a:latin typeface="Consolas" panose="020B060902020403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769177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671F6-9E1C-462B-8E1E-6393358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Simulation (the correct way)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B74B1-3145-4B60-B252-81C1C983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18" y="1873188"/>
            <a:ext cx="10554574" cy="49848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= 80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</a:t>
            </a:r>
            <a:r>
              <a:rPr lang="en-US" sz="1400" err="1">
                <a:latin typeface="Consolas" panose="020B0609020204030204" pitchFamily="49" charset="0"/>
              </a:rPr>
              <a:t>pm.Model</a:t>
            </a:r>
            <a:r>
              <a:rPr lang="en-US" sz="140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alpha = 1.0/20 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lambda_1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lambda_2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tau = </a:t>
            </a:r>
            <a:r>
              <a:rPr lang="en-US" sz="1400" err="1">
                <a:latin typeface="Consolas" panose="020B0609020204030204" pitchFamily="49" charset="0"/>
              </a:rPr>
              <a:t>pm.DiscreteUniform</a:t>
            </a:r>
            <a:r>
              <a:rPr lang="en-US" sz="1400">
                <a:latin typeface="Consolas" panose="020B0609020204030204" pitchFamily="49" charset="0"/>
              </a:rPr>
              <a:t>("tau", lower=0, upper=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np.arange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 = </a:t>
            </a:r>
            <a:r>
              <a:rPr lang="en-US" sz="1400" err="1">
                <a:latin typeface="Consolas" panose="020B0609020204030204" pitchFamily="49" charset="0"/>
              </a:rPr>
              <a:t>pm.math.switch</a:t>
            </a:r>
            <a:r>
              <a:rPr lang="en-US" sz="1400">
                <a:latin typeface="Consolas" panose="020B0609020204030204" pitchFamily="49" charset="0"/>
              </a:rPr>
              <a:t>(tau &gt;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data = </a:t>
            </a:r>
            <a:r>
              <a:rPr lang="en-US" sz="1400" err="1">
                <a:latin typeface="Consolas" panose="020B0609020204030204" pitchFamily="49" charset="0"/>
              </a:rPr>
              <a:t>pm.Poisson</a:t>
            </a:r>
            <a:r>
              <a:rPr lang="en-US" sz="1400">
                <a:latin typeface="Consolas" panose="020B0609020204030204" pitchFamily="49" charset="0"/>
              </a:rPr>
              <a:t>(“data", lambda_)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tau, data = </a:t>
            </a:r>
            <a:r>
              <a:rPr lang="en-US" sz="1400" err="1">
                <a:latin typeface="Consolas" panose="020B0609020204030204" pitchFamily="49" charset="0"/>
              </a:rPr>
              <a:t>pm.draw</a:t>
            </a:r>
            <a:r>
              <a:rPr lang="en-US" sz="1400">
                <a:latin typeface="Consolas" panose="020B0609020204030204" pitchFamily="49" charset="0"/>
              </a:rPr>
              <a:t>([tau, data])</a:t>
            </a:r>
          </a:p>
        </p:txBody>
      </p:sp>
    </p:spTree>
    <p:extLst>
      <p:ext uri="{BB962C8B-B14F-4D97-AF65-F5344CB8AC3E}">
        <p14:creationId xmlns:p14="http://schemas.microsoft.com/office/powerpoint/2010/main" val="133742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1A6B-9900-452F-AA13-E20AE05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without </a:t>
            </a:r>
            <a:r>
              <a:rPr lang="en-US" err="1"/>
              <a:t>PyMC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57400" y="1873188"/>
                <a:ext cx="10554574" cy="4984812"/>
              </a:xfrm>
            </p:spPr>
            <p:txBody>
              <a:bodyPr>
                <a:normAutofit fontScale="92500" lnSpcReduction="20000"/>
              </a:bodyPr>
              <a:lstStyle/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import </a:t>
                </a:r>
                <a:r>
                  <a:rPr lang="en-US" err="1">
                    <a:latin typeface="Consolas" panose="020B0609020204030204" pitchFamily="49" charset="0"/>
                  </a:rPr>
                  <a:t>numpy</a:t>
                </a:r>
                <a:r>
                  <a:rPr lang="en-US">
                    <a:latin typeface="Consolas" panose="020B0609020204030204" pitchFamily="49" charset="0"/>
                  </a:rPr>
                  <a:t> as np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import </a:t>
                </a:r>
                <a:r>
                  <a:rPr lang="en-US" err="1">
                    <a:latin typeface="Consolas" panose="020B0609020204030204" pitchFamily="49" charset="0"/>
                  </a:rPr>
                  <a:t>scipy.stats</a:t>
                </a:r>
                <a:r>
                  <a:rPr lang="en-US">
                    <a:latin typeface="Consolas" panose="020B0609020204030204" pitchFamily="49" charset="0"/>
                  </a:rPr>
                  <a:t> as stats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Having the model, we can simulate a possible realization of the dataset: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/>
                  <a:t>Specify when the user's </a:t>
                </a:r>
                <a:r>
                  <a:rPr lang="en-US" err="1"/>
                  <a:t>behaviour</a:t>
                </a:r>
                <a:r>
                  <a:rPr lang="en-US"/>
                  <a:t> switches by sampling from </a:t>
                </a:r>
                <a:r>
                  <a:rPr lang="en-US" err="1"/>
                  <a:t>DiscreteUniform</a:t>
                </a:r>
                <a:r>
                  <a:rPr lang="en-US"/>
                  <a:t>(0, 80):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tau = </a:t>
                </a:r>
                <a:r>
                  <a:rPr lang="da-DK" err="1">
                    <a:latin typeface="Consolas" panose="020B0609020204030204" pitchFamily="49" charset="0"/>
                  </a:rPr>
                  <a:t>np.random.randint</a:t>
                </a:r>
                <a:r>
                  <a:rPr lang="da-DK">
                    <a:latin typeface="Consolas" panose="020B0609020204030204" pitchFamily="49" charset="0"/>
                  </a:rPr>
                  <a:t>(0, 80)</a:t>
                </a: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print(tau)</a:t>
                </a:r>
              </a:p>
              <a:p>
                <a:pPr marL="800100" lvl="2" indent="0">
                  <a:buNone/>
                </a:pP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[Output]: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21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/>
                  <a:t>Draw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from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distribution: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alpha = 1. / 20.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lambda_1, lambda_2 = </a:t>
                </a:r>
                <a:r>
                  <a:rPr lang="en-US" err="1">
                    <a:latin typeface="Consolas" panose="020B0609020204030204" pitchFamily="49" charset="0"/>
                  </a:rPr>
                  <a:t>np.random.exponential</a:t>
                </a:r>
                <a:r>
                  <a:rPr lang="en-US">
                    <a:latin typeface="Consolas" panose="020B0609020204030204" pitchFamily="49" charset="0"/>
                  </a:rPr>
                  <a:t>(scale=1/alpha, size=2)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print(lambda_1, lambda_2)</a:t>
                </a:r>
              </a:p>
              <a:p>
                <a:pPr marL="800100" lvl="2" indent="0">
                  <a:buNone/>
                </a:pP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[Output]: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20.7789591495 62.1938883352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7400" y="1873188"/>
                <a:ext cx="10554574" cy="4984812"/>
              </a:xfrm>
              <a:blipFill>
                <a:blip r:embed="rId2"/>
                <a:stretch>
                  <a:fillRect l="-404" b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87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1A6B-9900-452F-AA13-E20AE05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83" y="2138766"/>
                <a:ext cx="11159230" cy="4664989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 startAt="3"/>
                </a:pPr>
                <a:r>
                  <a:rPr lang="en-US"/>
                  <a:t>For days before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, represent the user's received SMS count by sampling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and sample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Poi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for days after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data = </a:t>
                </a:r>
                <a:r>
                  <a:rPr lang="en-US" err="1">
                    <a:latin typeface="Consolas" panose="020B0609020204030204" pitchFamily="49" charset="0"/>
                  </a:rPr>
                  <a:t>np.r</a:t>
                </a:r>
                <a:r>
                  <a:rPr lang="en-US">
                    <a:latin typeface="Consolas" panose="020B0609020204030204" pitchFamily="49" charset="0"/>
                  </a:rPr>
                  <a:t>_[</a:t>
                </a:r>
                <a:r>
                  <a:rPr lang="en-US" err="1">
                    <a:latin typeface="Consolas" panose="020B0609020204030204" pitchFamily="49" charset="0"/>
                  </a:rPr>
                  <a:t>stats.poisson.rvs</a:t>
                </a:r>
                <a:r>
                  <a:rPr lang="en-US">
                    <a:latin typeface="Consolas" panose="020B0609020204030204" pitchFamily="49" charset="0"/>
                  </a:rPr>
                  <a:t>(mu=lambda_1, size=tau), </a:t>
                </a:r>
                <a:r>
                  <a:rPr lang="en-US" err="1">
                    <a:latin typeface="Consolas" panose="020B0609020204030204" pitchFamily="49" charset="0"/>
                  </a:rPr>
                  <a:t>stats.poisson.rvs</a:t>
                </a:r>
                <a:r>
                  <a:rPr lang="en-US">
                    <a:latin typeface="Consolas" panose="020B0609020204030204" pitchFamily="49" charset="0"/>
                  </a:rPr>
                  <a:t>(mu=lambda_2, size = 80 - tau)]</a:t>
                </a:r>
              </a:p>
              <a:p>
                <a:pPr>
                  <a:buFont typeface="+mj-lt"/>
                  <a:buAutoNum type="arabicPeriod" startAt="3"/>
                </a:pPr>
                <a:r>
                  <a:rPr lang="en-US"/>
                  <a:t>Plot the artificial dataset: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plt.bar</a:t>
                </a:r>
                <a:r>
                  <a:rPr lang="en-US">
                    <a:latin typeface="Consolas" panose="020B0609020204030204" pitchFamily="49" charset="0"/>
                  </a:rPr>
                  <a:t>(</a:t>
                </a:r>
                <a:r>
                  <a:rPr lang="en-US" err="1">
                    <a:latin typeface="Consolas" panose="020B0609020204030204" pitchFamily="49" charset="0"/>
                  </a:rPr>
                  <a:t>np.arange</a:t>
                </a:r>
                <a:r>
                  <a:rPr lang="en-US">
                    <a:latin typeface="Consolas" panose="020B0609020204030204" pitchFamily="49" charset="0"/>
                  </a:rPr>
                  <a:t>(80), data, color="#348ABD")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plt.bar</a:t>
                </a:r>
                <a:r>
                  <a:rPr lang="en-US">
                    <a:latin typeface="Consolas" panose="020B0609020204030204" pitchFamily="49" charset="0"/>
                  </a:rPr>
                  <a:t>(tau - 1, data[tau - 1], color="r", label="user </a:t>
                </a:r>
                <a:r>
                  <a:rPr lang="en-US" err="1">
                    <a:latin typeface="Consolas" panose="020B0609020204030204" pitchFamily="49" charset="0"/>
                  </a:rPr>
                  <a:t>behaviour</a:t>
                </a:r>
                <a:r>
                  <a:rPr lang="en-US">
                    <a:latin typeface="Consolas" panose="020B0609020204030204" pitchFamily="49" charset="0"/>
                  </a:rPr>
                  <a:t> changed")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plt.xlabel</a:t>
                </a:r>
                <a:r>
                  <a:rPr lang="en-US">
                    <a:latin typeface="Consolas" panose="020B0609020204030204" pitchFamily="49" charset="0"/>
                  </a:rPr>
                  <a:t>("Time (days)")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plt.ylabel</a:t>
                </a:r>
                <a:r>
                  <a:rPr lang="en-US">
                    <a:latin typeface="Consolas" panose="020B0609020204030204" pitchFamily="49" charset="0"/>
                  </a:rPr>
                  <a:t>("count of text-</a:t>
                </a:r>
                <a:r>
                  <a:rPr lang="en-US" err="1">
                    <a:latin typeface="Consolas" panose="020B0609020204030204" pitchFamily="49" charset="0"/>
                  </a:rPr>
                  <a:t>msgs</a:t>
                </a:r>
                <a:r>
                  <a:rPr lang="en-US">
                    <a:latin typeface="Consolas" panose="020B0609020204030204" pitchFamily="49" charset="0"/>
                  </a:rPr>
                  <a:t> received")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plt.title</a:t>
                </a:r>
                <a:r>
                  <a:rPr lang="en-US">
                    <a:latin typeface="Consolas" panose="020B0609020204030204" pitchFamily="49" charset="0"/>
                  </a:rPr>
                  <a:t>("Artificial dataset")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plt.xlim</a:t>
                </a:r>
                <a:r>
                  <a:rPr lang="en-US">
                    <a:latin typeface="Consolas" panose="020B0609020204030204" pitchFamily="49" charset="0"/>
                  </a:rPr>
                  <a:t>(0, 80)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plt.legend</a:t>
                </a:r>
                <a:r>
                  <a:rPr lang="en-US">
                    <a:latin typeface="Consolas" panose="020B0609020204030204" pitchFamily="49" charset="0"/>
                  </a:rPr>
                  <a:t>();</a:t>
                </a:r>
              </a:p>
              <a:p>
                <a:pPr marL="800100" lvl="2" indent="0">
                  <a:buNone/>
                </a:pP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plt.show</a:t>
                </a:r>
                <a:r>
                  <a:rPr lang="en-US">
                    <a:latin typeface="Consolas" panose="020B0609020204030204" pitchFamily="49" charset="0"/>
                  </a:rPr>
                  <a:t>()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83" y="2138766"/>
                <a:ext cx="11159230" cy="4664989"/>
              </a:xfrm>
              <a:blipFill>
                <a:blip r:embed="rId2"/>
                <a:stretch>
                  <a:fillRect l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19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F431-4CD8-4675-8895-92CF7740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Dataset</a:t>
            </a:r>
          </a:p>
        </p:txBody>
      </p:sp>
      <p:pic>
        <p:nvPicPr>
          <p:cNvPr id="5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5F3C0CDB-4789-4CB5-AB90-CFA032F30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77" y="2951377"/>
            <a:ext cx="72485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70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CF3B-5547-4FD1-9CB2-0D4C9D00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 of Artificial Datasets</a:t>
            </a:r>
          </a:p>
        </p:txBody>
      </p:sp>
      <p:pic>
        <p:nvPicPr>
          <p:cNvPr id="5" name="Picture 4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227FA312-2A42-421A-AC22-0A5C3BAD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71" y="2886721"/>
            <a:ext cx="70580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82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48674-79EE-412C-AFD7-B7532139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18D86-A69F-4D92-B3C4-460690040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61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### Mysterious code to be explained in Chapter 3.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step = </a:t>
            </a:r>
            <a:r>
              <a:rPr lang="en-US" sz="1400" err="1">
                <a:latin typeface="Consolas" panose="020B0609020204030204" pitchFamily="49" charset="0"/>
              </a:rPr>
              <a:t>pm.Metropolis</a:t>
            </a:r>
            <a:r>
              <a:rPr lang="en-US" sz="140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trace = </a:t>
            </a:r>
            <a:r>
              <a:rPr lang="en-US" sz="1400" err="1">
                <a:latin typeface="Consolas" panose="020B0609020204030204" pitchFamily="49" charset="0"/>
              </a:rPr>
              <a:t>pm.sample</a:t>
            </a:r>
            <a:r>
              <a:rPr lang="en-US" sz="1400">
                <a:latin typeface="Consolas" panose="020B0609020204030204" pitchFamily="49" charset="0"/>
              </a:rPr>
              <a:t>(10000, tune=5000, chains=1, step=step, </a:t>
            </a:r>
            <a:r>
              <a:rPr lang="en-US" sz="1400" err="1">
                <a:latin typeface="Consolas" panose="020B0609020204030204" pitchFamily="49" charset="0"/>
              </a:rPr>
              <a:t>return_inferencedata</a:t>
            </a:r>
            <a:r>
              <a:rPr lang="en-US" sz="140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lambda_1_samples = trace['lambda_1']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lambda_2_samples = trace['lambda_2']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 = trace['tau']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77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850633-25CA-40AB-BB2B-2F882114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Criticism of the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89EB1-EE5D-481B-A728-653776246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66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030-9711-43BF-9314-58DEDCC4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posterior distributions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7F97B-0C2F-4CCF-B922-4F9E546B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13638"/>
            <a:ext cx="5651069" cy="476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40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EC223-A674-4834-BE7C-D4505D09F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/>
          <a:lstStyle/>
          <a:p>
            <a:r>
              <a:rPr lang="en-US" sz="3200"/>
              <a:t>Expected number of texts per 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389EA5-8C71-4212-9730-FA8D2FA1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684" y="446088"/>
            <a:ext cx="7467993" cy="62956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 </a:t>
            </a: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, lambda_1_samples, lambda_2_samples contain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 N samples from the corresponding posterior distribution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N = </a:t>
            </a:r>
            <a:r>
              <a:rPr lang="en-US" sz="1400" err="1">
                <a:latin typeface="Consolas" panose="020B0609020204030204" pitchFamily="49" charset="0"/>
              </a:rPr>
              <a:t>tau_samples.shape</a:t>
            </a:r>
            <a:r>
              <a:rPr lang="en-US" sz="1400">
                <a:latin typeface="Consolas" panose="020B0609020204030204" pitchFamily="49" charset="0"/>
              </a:rPr>
              <a:t>[0]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expected_texts_per_day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np.zeros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for day in range(0, 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ix is a bool index of all tau samples corresponding to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the </a:t>
            </a:r>
            <a:r>
              <a:rPr lang="en-US" sz="1400" err="1">
                <a:latin typeface="Consolas" panose="020B0609020204030204" pitchFamily="49" charset="0"/>
              </a:rPr>
              <a:t>switchpoint</a:t>
            </a:r>
            <a:r>
              <a:rPr lang="en-US" sz="1400">
                <a:latin typeface="Consolas" panose="020B0609020204030204" pitchFamily="49" charset="0"/>
              </a:rPr>
              <a:t> occurring prior to value of 'day'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ix = day &lt; </a:t>
            </a:r>
            <a:r>
              <a:rPr lang="en-US" sz="1400" err="1">
                <a:latin typeface="Consolas" panose="020B0609020204030204" pitchFamily="49" charset="0"/>
              </a:rPr>
              <a:t>tau_samples</a:t>
            </a: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Each posterior sample corresponds to a value for tau.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for each day, that value of tau indicates whether we're "before"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(in the lambda1 "regime") or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 "after" (in the lambda2 "regime") the </a:t>
            </a:r>
            <a:r>
              <a:rPr lang="en-US" sz="1400" err="1">
                <a:latin typeface="Consolas" panose="020B0609020204030204" pitchFamily="49" charset="0"/>
              </a:rPr>
              <a:t>switchpoint</a:t>
            </a:r>
            <a:r>
              <a:rPr lang="en-US" sz="140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by taking the posterior sample of lambda1/2 accordingly, we can average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over all samples to get an expected value for lambda on that day.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As explained, the "message count" random variable is Poisson distributed,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and therefore lambda (the </a:t>
            </a:r>
            <a:r>
              <a:rPr lang="en-US" sz="1400" err="1">
                <a:latin typeface="Consolas" panose="020B0609020204030204" pitchFamily="49" charset="0"/>
              </a:rPr>
              <a:t>poisson</a:t>
            </a:r>
            <a:r>
              <a:rPr lang="en-US" sz="1400">
                <a:latin typeface="Consolas" panose="020B0609020204030204" pitchFamily="49" charset="0"/>
              </a:rPr>
              <a:t> parameter) is the expected value of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"message count".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expected_texts_per_day</a:t>
            </a:r>
            <a:r>
              <a:rPr lang="en-US" sz="1400">
                <a:latin typeface="Consolas" panose="020B0609020204030204" pitchFamily="49" charset="0"/>
              </a:rPr>
              <a:t>[day] = (lambda_1_samples[ix].sum()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                               + lambda_2_samples[~ix].sum()) / N</a:t>
            </a:r>
          </a:p>
        </p:txBody>
      </p:sp>
    </p:spTree>
    <p:extLst>
      <p:ext uri="{BB962C8B-B14F-4D97-AF65-F5344CB8AC3E}">
        <p14:creationId xmlns:p14="http://schemas.microsoft.com/office/powerpoint/2010/main" val="2174858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0E468-4500-4B45-9910-6C7BE59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number of texts per 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AA0EC-2B11-4943-847F-15AC325B1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092" y="2742634"/>
            <a:ext cx="73437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7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E117-AFB7-4FC2-AA48-456920A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Determining statistically if the two </a:t>
            </a:r>
            <a:r>
              <a:rPr lang="el-GR" i="1"/>
              <a:t>λ</a:t>
            </a:r>
            <a:r>
              <a:rPr lang="en-US"/>
              <a:t>s are indeed different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D2D21-37BF-42F4-9A46-0221727CE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8712" y="2222288"/>
                <a:ext cx="10554574" cy="2194730"/>
              </a:xfrm>
            </p:spPr>
            <p:txBody>
              <a:bodyPr/>
              <a:lstStyle/>
              <a:p>
                <a:pPr algn="just"/>
                <a:r>
                  <a:rPr lang="en-US"/>
                  <a:t>We visually inspected the posteriors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to declare them different. How can we make this decision more formal?</a:t>
                </a:r>
              </a:p>
              <a:p>
                <a:pPr algn="just"/>
                <a:r>
                  <a:rPr lang="en-US"/>
                  <a:t>One way is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data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; that is, what is the probability that the true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given the data we observed. Using samples from the posteriors, this computation is very simple – we compute the fraction of times that a sample from the posterior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less than one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D2D21-37BF-42F4-9A46-0221727CE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8712" y="2222288"/>
                <a:ext cx="10554574" cy="2194730"/>
              </a:xfrm>
              <a:blipFill>
                <a:blip r:embed="rId2"/>
                <a:stretch>
                  <a:fillRect l="-231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44F100E-ACA0-4AB9-A17E-B91B51BDBDBF}"/>
              </a:ext>
            </a:extLst>
          </p:cNvPr>
          <p:cNvSpPr txBox="1"/>
          <p:nvPr/>
        </p:nvSpPr>
        <p:spPr>
          <a:xfrm>
            <a:off x="1926840" y="4604035"/>
            <a:ext cx="5253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print((lambda_1_samples &lt; lambda_2_samples).mean())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[Output]: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0.9998</a:t>
            </a:r>
          </a:p>
        </p:txBody>
      </p:sp>
    </p:spTree>
    <p:extLst>
      <p:ext uri="{BB962C8B-B14F-4D97-AF65-F5344CB8AC3E}">
        <p14:creationId xmlns:p14="http://schemas.microsoft.com/office/powerpoint/2010/main" val="802052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DD4D-F2DC-4A77-8B18-E3492C4C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Dataset</a:t>
            </a:r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EF6F9C76-C800-43C4-AB95-83F16471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84" y="1981143"/>
            <a:ext cx="5852172" cy="4352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4261E-2133-4F9A-A8EF-E2C9B00D359B}"/>
                  </a:ext>
                </a:extLst>
              </p:cNvPr>
              <p:cNvSpPr txBox="1"/>
              <p:nvPr/>
            </p:nvSpPr>
            <p:spPr>
              <a:xfrm>
                <a:off x="263472" y="3913322"/>
                <a:ext cx="44823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Artificial data set was generated from </a:t>
                </a:r>
              </a:p>
              <a:p>
                <a:r>
                  <a:rPr lang="en-US"/>
                  <a:t>a Poisson distribution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=19.255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4261E-2133-4F9A-A8EF-E2C9B00D3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72" y="3913322"/>
                <a:ext cx="4482317" cy="646331"/>
              </a:xfrm>
              <a:prstGeom prst="rect">
                <a:avLst/>
              </a:prstGeom>
              <a:blipFill>
                <a:blip r:embed="rId3"/>
                <a:stretch>
                  <a:fillRect l="-1087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378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030-9711-43BF-9314-58DEDCC4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artificial data: posterior distributions</a:t>
            </a: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4A013F8-D1DC-4AA4-AEAB-49F34149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217" y="2046635"/>
            <a:ext cx="5852172" cy="4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86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0E468-4500-4B45-9910-6C7BE59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number of texts per day</a:t>
            </a:r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ED537A7-3240-4E54-96FE-39906994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890" y="2136126"/>
            <a:ext cx="5852172" cy="4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57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E117-AFB7-4FC2-AA48-456920A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Determining statistically if the two </a:t>
            </a:r>
            <a:r>
              <a:rPr lang="el-GR" i="1"/>
              <a:t>λ</a:t>
            </a:r>
            <a:r>
              <a:rPr lang="en-US"/>
              <a:t>s are indeed different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F100E-ACA0-4AB9-A17E-B91B51BDBDBF}"/>
              </a:ext>
            </a:extLst>
          </p:cNvPr>
          <p:cNvSpPr txBox="1"/>
          <p:nvPr/>
        </p:nvSpPr>
        <p:spPr>
          <a:xfrm>
            <a:off x="2306548" y="3178190"/>
            <a:ext cx="5253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print((lambda_1_samples &lt; lambda_2_samples).mean())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[Output]: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0.3962</a:t>
            </a:r>
          </a:p>
        </p:txBody>
      </p:sp>
    </p:spTree>
    <p:extLst>
      <p:ext uri="{BB962C8B-B14F-4D97-AF65-F5344CB8AC3E}">
        <p14:creationId xmlns:p14="http://schemas.microsoft.com/office/powerpoint/2010/main" val="1340375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B3D6-0EC8-40C5-B9EF-94830181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Probabilistic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B8F8-DB50-47A8-8AD8-1EEE4194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1590296"/>
          </a:xfrm>
        </p:spPr>
        <p:txBody>
          <a:bodyPr/>
          <a:lstStyle/>
          <a:p>
            <a:r>
              <a:rPr lang="en-US"/>
              <a:t>Build a probabilistic model of the phenomena.</a:t>
            </a:r>
          </a:p>
          <a:p>
            <a:r>
              <a:rPr lang="en-US"/>
              <a:t>Reason about the phenomena given model and data.</a:t>
            </a:r>
          </a:p>
          <a:p>
            <a:r>
              <a:rPr lang="en-US"/>
              <a:t>Criticize the model, revise and repeat.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AEE05-03FC-49B6-83A8-5072DE9F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90" y="3918730"/>
            <a:ext cx="67627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3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rsuasive Speech Outline_SL_v5" id="{5581881B-4813-400F-8DBA-5A98066FCECE}" vid="{804D9012-1EE1-49D9-B1AB-A146B0298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3" ma:contentTypeDescription="Create a new document." ma:contentTypeScope="" ma:versionID="7edc113672e6c74304c3dc808492a610">
  <xsd:schema xmlns:xsd="http://www.w3.org/2001/XMLSchema" xmlns:xs="http://www.w3.org/2001/XMLSchema" xmlns:p="http://schemas.microsoft.com/office/2006/metadata/properties" xmlns:ns2="3fdd4eb4-493c-48cf-bddf-25f1a88be6fa" targetNamespace="http://schemas.microsoft.com/office/2006/metadata/properties" ma:root="true" ma:fieldsID="c4b0dc693752b561082fa17052b2a91f" ns2:_="">
    <xsd:import namespace="3fdd4eb4-493c-48cf-bddf-25f1a88be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AF3D27-2320-4C8B-9F4F-A39C7271EB9B}"/>
</file>

<file path=customXml/itemProps2.xml><?xml version="1.0" encoding="utf-8"?>
<ds:datastoreItem xmlns:ds="http://schemas.openxmlformats.org/officeDocument/2006/customXml" ds:itemID="{0DC75368-59C6-47C9-94A5-81D396CCE5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1DE3E1-BE43-4468-8986-14BA0CF36A3F}">
  <ds:schemaRefs>
    <ds:schemaRef ds:uri="6dc4bcd6-49db-4c07-9060-8acfc67cef9f"/>
    <ds:schemaRef ds:uri="fb0879af-3eba-417a-a55a-ffe6dcd6ca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Application>Microsoft Office PowerPoint</Application>
  <PresentationFormat>Widescreen</PresentationFormat>
  <Slides>41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Quotable</vt:lpstr>
      <vt:lpstr>Probabilistic Programming</vt:lpstr>
      <vt:lpstr>A More Elaborate “Hello World!”</vt:lpstr>
      <vt:lpstr>Inferring behaviour from text-message data</vt:lpstr>
      <vt:lpstr>How can we start to model this?</vt:lpstr>
      <vt:lpstr>Probability Distributions (Memento)</vt:lpstr>
      <vt:lpstr>Poisson Distribution (Memento)</vt:lpstr>
      <vt:lpstr>Exponential Distribution (Memento)</vt:lpstr>
      <vt:lpstr>Modeling</vt:lpstr>
      <vt:lpstr>How can we start to model this?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Bayesian modeling is to think about how your data might have been generated</vt:lpstr>
      <vt:lpstr>Bayesian modeling is to think about how your data might have been generated</vt:lpstr>
      <vt:lpstr>The Model</vt:lpstr>
      <vt:lpstr>Generative Models</vt:lpstr>
      <vt:lpstr>Generative Stories</vt:lpstr>
      <vt:lpstr>The Model</vt:lpstr>
      <vt:lpstr>PyMC Modeling</vt:lpstr>
      <vt:lpstr>PyMC Modeling</vt:lpstr>
      <vt:lpstr>Simulation</vt:lpstr>
      <vt:lpstr>PyMC Simulation (the wrong way)</vt:lpstr>
      <vt:lpstr>PyMC Simulation (the correct way)</vt:lpstr>
      <vt:lpstr>Simulation without PyMC</vt:lpstr>
      <vt:lpstr>PyMC Simulation</vt:lpstr>
      <vt:lpstr>Artificial Dataset</vt:lpstr>
      <vt:lpstr>More Examples of Artificial Datasets</vt:lpstr>
      <vt:lpstr>Inference</vt:lpstr>
      <vt:lpstr>PyMC Inference</vt:lpstr>
      <vt:lpstr>Criticism of the Model</vt:lpstr>
      <vt:lpstr>Inferring behaviour from text-message data: posterior distributions</vt:lpstr>
      <vt:lpstr>Expected number of texts per day</vt:lpstr>
      <vt:lpstr>Expected number of texts per day</vt:lpstr>
      <vt:lpstr>Determining statistically if the two λs are indeed different</vt:lpstr>
      <vt:lpstr>Artificial Dataset</vt:lpstr>
      <vt:lpstr>Inferring behaviour from artificial data: posterior distributions</vt:lpstr>
      <vt:lpstr>Expected number of texts per day</vt:lpstr>
      <vt:lpstr>Determining statistically if the two λs are indeed different</vt:lpstr>
      <vt:lpstr>Probabilistic Modeling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2018-09-08T07:39:54Z</dcterms:created>
  <dcterms:modified xsi:type="dcterms:W3CDTF">2025-11-16T17:30:03Z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0x010100416B40607B74BC429BA29107EE76F9BC</vt:lpwstr>
  </property>
</Properties>
</file>